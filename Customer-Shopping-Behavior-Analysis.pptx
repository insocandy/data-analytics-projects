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drive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20033"/>
            <a:ext cx="1962745" cy="426244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88018"/>
            <a:ext cx="1690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37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Foundation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899291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565916" y="3931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56884" y="2899291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9229130" y="3931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4625578"/>
            <a:ext cx="32687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 Analyzed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320070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location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details &amp; product categories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Shopping behavior &amp; preferences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&amp; loyalty patterns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928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5924" y="3225403"/>
            <a:ext cx="1751648" cy="393740"/>
          </a:xfrm>
          <a:prstGeom prst="roundRect">
            <a:avLst>
              <a:gd name="adj" fmla="val 17701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57964" y="3295174"/>
            <a:ext cx="1487567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5924" y="3694986"/>
            <a:ext cx="6576893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 Analysis Pipeline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725924" y="4627483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5924" y="4957048"/>
            <a:ext cx="6494383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8" name="Text 5"/>
          <p:cNvSpPr/>
          <p:nvPr/>
        </p:nvSpPr>
        <p:spPr>
          <a:xfrm>
            <a:off x="725924" y="5106472"/>
            <a:ext cx="3733800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 &amp; Exploration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5924" y="5544264"/>
            <a:ext cx="6494383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dataset, checked structure and summary statistics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09974" y="4627483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09974" y="4957048"/>
            <a:ext cx="6494502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2" name="Text 9"/>
          <p:cNvSpPr/>
          <p:nvPr/>
        </p:nvSpPr>
        <p:spPr>
          <a:xfrm>
            <a:off x="7409974" y="5106472"/>
            <a:ext cx="3027521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09974" y="5544264"/>
            <a:ext cx="649450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37 missing review ratings using category medians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5924" y="6207085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5924" y="6536650"/>
            <a:ext cx="6494383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13"/>
          <p:cNvSpPr/>
          <p:nvPr/>
        </p:nvSpPr>
        <p:spPr>
          <a:xfrm>
            <a:off x="725924" y="6686074"/>
            <a:ext cx="2702481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25924" y="7123867"/>
            <a:ext cx="6494383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 metrics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9974" y="6207085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09974" y="6536650"/>
            <a:ext cx="6494502" cy="2286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7"/>
          <p:cNvSpPr/>
          <p:nvPr/>
        </p:nvSpPr>
        <p:spPr>
          <a:xfrm>
            <a:off x="7409974" y="6686074"/>
            <a:ext cx="2755821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409974" y="7123867"/>
            <a:ext cx="649450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MySQL for advanced SQL analysis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Insights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049" y="3301841"/>
            <a:ext cx="4072652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Revenue Comparison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536049" y="3839051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higher total revenue across all categories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5536049" y="4507101"/>
            <a:ext cx="8351996" cy="34290"/>
          </a:xfrm>
          <a:prstGeom prst="rect">
            <a:avLst/>
          </a:prstGeom>
          <a:solidFill>
            <a:srgbClr val="45424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536049" y="4768929"/>
            <a:ext cx="320790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Analysis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536049" y="5306139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users show higher average purchase amounts than standard shipping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76005"/>
            <a:ext cx="2061567" cy="426244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49840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443990"/>
            <a:ext cx="15172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PERFORMERS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929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Excellence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41915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5637371"/>
            <a:ext cx="3406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 Rated Products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612779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products identified by average review ratings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41915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893" y="5637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Leaders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235893" y="612779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purchased products within each category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41915"/>
            <a:ext cx="2411968" cy="2411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995" y="5637371"/>
            <a:ext cx="39484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Items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677995" y="612779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products with highest percentage of discounted purchases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0138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594973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spend 44% more on average than non-subscribers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4689310"/>
            <a:ext cx="4205168" cy="35957"/>
          </a:xfrm>
          <a:prstGeom prst="rect">
            <a:avLst/>
          </a:prstGeom>
          <a:solidFill>
            <a:srgbClr val="45424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638943" y="4980384"/>
            <a:ext cx="3711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 Correlation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38943" y="556152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with 5+ purchases show significantly higher subscription rates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899297"/>
            <a:ext cx="221396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7498" y="3974902"/>
            <a:ext cx="19265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431506"/>
            <a:ext cx="89508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Understanding Our Customers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5480447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5714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620529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First-time buyers exploring our offerings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5480447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51396" y="5714881"/>
            <a:ext cx="3119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51396" y="620529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2-5 purchases, building relationship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480447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4568" y="5714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74568" y="620529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5+ purchases, highest lifetime value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9544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 Revenue Distribution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42373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2130147" y="6731913"/>
            <a:ext cx="62031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18-30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3437573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866719"/>
          </a:solidFill>
          <a:ln/>
        </p:spPr>
      </p:sp>
      <p:sp>
        <p:nvSpPr>
          <p:cNvPr id="7" name="Text 4"/>
          <p:cNvSpPr/>
          <p:nvPr/>
        </p:nvSpPr>
        <p:spPr>
          <a:xfrm>
            <a:off x="3725347" y="6731913"/>
            <a:ext cx="5994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31-45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496401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9" name="Text 6"/>
          <p:cNvSpPr/>
          <p:nvPr/>
        </p:nvSpPr>
        <p:spPr>
          <a:xfrm>
            <a:off x="5784175" y="6731913"/>
            <a:ext cx="7000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46-60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121128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E1BE64"/>
          </a:solidFill>
          <a:ln/>
        </p:spPr>
      </p:sp>
      <p:sp>
        <p:nvSpPr>
          <p:cNvPr id="11" name="Text 8"/>
          <p:cNvSpPr/>
          <p:nvPr/>
        </p:nvSpPr>
        <p:spPr>
          <a:xfrm>
            <a:off x="7408902" y="6731913"/>
            <a:ext cx="4221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60+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38943" y="2832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Leaders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38943" y="3413522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31-45 age group drives highest revenue contribution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38943" y="4507858"/>
            <a:ext cx="4205168" cy="35957"/>
          </a:xfrm>
          <a:prstGeom prst="rect">
            <a:avLst/>
          </a:prstGeom>
          <a:solidFill>
            <a:srgbClr val="454240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638943" y="4798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Behavior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38943" y="538007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High-spending customers still use discounts but maintain above-average purchase amounts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59402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visual insights for real-time decision making across all key metrics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7414" y="627817"/>
            <a:ext cx="1776174" cy="307181"/>
          </a:xfrm>
          <a:prstGeom prst="roundRect">
            <a:avLst>
              <a:gd name="adj" fmla="val 19333"/>
            </a:avLst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380" y="710684"/>
            <a:ext cx="141327" cy="141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5311" y="680799"/>
            <a:ext cx="1352312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ACTIONS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17414" y="990005"/>
            <a:ext cx="6352461" cy="552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1217414" y="1748790"/>
            <a:ext cx="12195572" cy="1060490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40274" y="1771650"/>
            <a:ext cx="706993" cy="1014770"/>
          </a:xfrm>
          <a:prstGeom prst="roundRect">
            <a:avLst>
              <a:gd name="adj" fmla="val 6620"/>
            </a:avLst>
          </a:prstGeom>
          <a:solidFill>
            <a:srgbClr val="F7EDD4"/>
          </a:solidFill>
          <a:ln/>
        </p:spPr>
      </p:sp>
      <p:sp>
        <p:nvSpPr>
          <p:cNvPr id="8" name="Text 5"/>
          <p:cNvSpPr/>
          <p:nvPr/>
        </p:nvSpPr>
        <p:spPr>
          <a:xfrm>
            <a:off x="1457444" y="2113359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084903" y="1948339"/>
            <a:ext cx="224528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084903" y="2307193"/>
            <a:ext cx="1112853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to convert high-frequency buyers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217414" y="2946916"/>
            <a:ext cx="12195572" cy="1060490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40274" y="2969776"/>
            <a:ext cx="706993" cy="1014770"/>
          </a:xfrm>
          <a:prstGeom prst="roundRect">
            <a:avLst>
              <a:gd name="adj" fmla="val 6620"/>
            </a:avLst>
          </a:prstGeom>
          <a:solidFill>
            <a:srgbClr val="F7EDD4"/>
          </a:solidFill>
          <a:ln/>
        </p:spPr>
      </p:sp>
      <p:sp>
        <p:nvSpPr>
          <p:cNvPr id="13" name="Text 10"/>
          <p:cNvSpPr/>
          <p:nvPr/>
        </p:nvSpPr>
        <p:spPr>
          <a:xfrm>
            <a:off x="1457444" y="3311485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084903" y="3146465"/>
            <a:ext cx="220932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084903" y="3505319"/>
            <a:ext cx="1112853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move them into loyal segment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217414" y="4145042"/>
            <a:ext cx="12195572" cy="1060490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0274" y="4167902"/>
            <a:ext cx="706993" cy="1014770"/>
          </a:xfrm>
          <a:prstGeom prst="roundRect">
            <a:avLst>
              <a:gd name="adj" fmla="val 6620"/>
            </a:avLst>
          </a:prstGeom>
          <a:solidFill>
            <a:srgbClr val="F7EDD4"/>
          </a:solidFill>
          <a:ln/>
        </p:spPr>
      </p:sp>
      <p:sp>
        <p:nvSpPr>
          <p:cNvPr id="18" name="Text 15"/>
          <p:cNvSpPr/>
          <p:nvPr/>
        </p:nvSpPr>
        <p:spPr>
          <a:xfrm>
            <a:off x="1457444" y="4509611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084903" y="4344591"/>
            <a:ext cx="26521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2084903" y="4703445"/>
            <a:ext cx="1112853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growth with margin protection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217414" y="5343168"/>
            <a:ext cx="12195572" cy="1060490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40274" y="5366028"/>
            <a:ext cx="706993" cy="1014770"/>
          </a:xfrm>
          <a:prstGeom prst="roundRect">
            <a:avLst>
              <a:gd name="adj" fmla="val 6620"/>
            </a:avLst>
          </a:prstGeom>
          <a:solidFill>
            <a:srgbClr val="F7EDD4"/>
          </a:solidFill>
          <a:ln/>
        </p:spPr>
      </p:sp>
      <p:sp>
        <p:nvSpPr>
          <p:cNvPr id="23" name="Text 20"/>
          <p:cNvSpPr/>
          <p:nvPr/>
        </p:nvSpPr>
        <p:spPr>
          <a:xfrm>
            <a:off x="1457444" y="5707737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2084903" y="5542717"/>
            <a:ext cx="224182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084903" y="5901571"/>
            <a:ext cx="1112853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items in marketing campaigns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217414" y="6541294"/>
            <a:ext cx="12195572" cy="1060490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40274" y="6564154"/>
            <a:ext cx="706993" cy="1014770"/>
          </a:xfrm>
          <a:prstGeom prst="roundRect">
            <a:avLst>
              <a:gd name="adj" fmla="val 6620"/>
            </a:avLst>
          </a:prstGeom>
          <a:solidFill>
            <a:srgbClr val="F7EDD4"/>
          </a:solidFill>
          <a:ln/>
        </p:spPr>
      </p:sp>
      <p:sp>
        <p:nvSpPr>
          <p:cNvPr id="28" name="Text 25"/>
          <p:cNvSpPr/>
          <p:nvPr/>
        </p:nvSpPr>
        <p:spPr>
          <a:xfrm>
            <a:off x="1457444" y="6905863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050" dirty="0"/>
          </a:p>
        </p:txBody>
      </p:sp>
      <p:sp>
        <p:nvSpPr>
          <p:cNvPr id="29" name="Text 26"/>
          <p:cNvSpPr/>
          <p:nvPr/>
        </p:nvSpPr>
        <p:spPr>
          <a:xfrm>
            <a:off x="2084903" y="6740843"/>
            <a:ext cx="222849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2084903" y="7099697"/>
            <a:ext cx="1112853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 shipping users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2026-02-15T14:04:52Z</dcterms:created>
  <dcterms:modified xsi:type="dcterms:W3CDTF">2026-02-15T14:04:52Z</dcterms:modified>
</cp:coreProperties>
</file>